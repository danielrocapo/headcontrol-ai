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12192000"/>
  <p:embeddedFontLst>
    <p:embeddedFont>
      <p:font typeface="Play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lay-bold.fntdata"/><Relationship Id="rId14" Type="http://schemas.openxmlformats.org/officeDocument/2006/relationships/font" Target="fonts/Play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7F9FC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502920" y="6510528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HeadControl AI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9326880" y="6510528"/>
            <a:ext cx="2331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Proyecto de Inteligencia Artificial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150" y="0"/>
            <a:ext cx="12191700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4"/>
          <p:cNvSpPr/>
          <p:nvPr/>
        </p:nvSpPr>
        <p:spPr>
          <a:xfrm>
            <a:off x="9464040" y="228600"/>
            <a:ext cx="2423160" cy="2423160"/>
          </a:xfrm>
          <a:prstGeom prst="ellipse">
            <a:avLst/>
          </a:prstGeom>
          <a:solidFill>
            <a:srgbClr val="14B8A6">
              <a:alpha val="58039"/>
            </a:srgbClr>
          </a:solidFill>
          <a:ln cap="flat" cmpd="sng" w="12700">
            <a:solidFill>
              <a:srgbClr val="14B8A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/>
          <p:nvPr/>
        </p:nvSpPr>
        <p:spPr>
          <a:xfrm>
            <a:off x="8641080" y="3977640"/>
            <a:ext cx="2423160" cy="2423160"/>
          </a:xfrm>
          <a:prstGeom prst="ellipse">
            <a:avLst/>
          </a:prstGeom>
          <a:solidFill>
            <a:srgbClr val="38BDF8">
              <a:alpha val="41961"/>
            </a:srgbClr>
          </a:solidFill>
          <a:ln cap="flat" cmpd="sng" w="12700">
            <a:solidFill>
              <a:srgbClr val="38BD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685800" y="1143000"/>
            <a:ext cx="6949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HEADCONTROL AI</a:t>
            </a:r>
            <a:endParaRPr b="0" i="0" sz="3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713232" y="1947672"/>
            <a:ext cx="7040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7F2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DDE7F2"/>
                </a:solidFill>
                <a:latin typeface="Arial"/>
                <a:ea typeface="Arial"/>
                <a:cs typeface="Arial"/>
                <a:sym typeface="Arial"/>
              </a:rPr>
              <a:t>Interacción hombre-máquina mediante control cefálico e inteligencia artificial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731520" y="3127248"/>
            <a:ext cx="2103120" cy="384048"/>
          </a:xfrm>
          <a:prstGeom prst="roundRect">
            <a:avLst>
              <a:gd fmla="val 19048" name="adj"/>
            </a:avLst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804672" y="3200400"/>
            <a:ext cx="1956816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Teachable Machine Pose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2971800" y="3127248"/>
            <a:ext cx="1417320" cy="384048"/>
          </a:xfrm>
          <a:prstGeom prst="roundRect">
            <a:avLst>
              <a:gd fmla="val 19048" name="adj"/>
            </a:avLst>
          </a:prstGeom>
          <a:solidFill>
            <a:srgbClr val="0369A1"/>
          </a:solidFill>
          <a:ln cap="flat" cmpd="sng" w="12700">
            <a:solidFill>
              <a:srgbClr val="0369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3044952" y="3200400"/>
            <a:ext cx="1271016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731520" y="4983480"/>
            <a:ext cx="4846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Elias Daniel Roca Padilla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731520" y="5440680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2D4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AFC2D4"/>
                </a:solidFill>
                <a:latin typeface="Arial"/>
                <a:ea typeface="Arial"/>
                <a:cs typeface="Arial"/>
                <a:sym typeface="Arial"/>
              </a:rPr>
              <a:t>Proyecto de Inteligencia Artificial 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8503920" y="1234440"/>
            <a:ext cx="1371600" cy="1371600"/>
          </a:xfrm>
          <a:prstGeom prst="ellipse">
            <a:avLst/>
          </a:prstGeom>
          <a:solidFill>
            <a:srgbClr val="FFFFFF">
              <a:alpha val="7843"/>
            </a:srgbClr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" name="Google Shape;34;p4"/>
          <p:cNvCxnSpPr/>
          <p:nvPr/>
        </p:nvCxnSpPr>
        <p:spPr>
          <a:xfrm>
            <a:off x="9189720" y="2606040"/>
            <a:ext cx="0" cy="132588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" name="Google Shape;35;p4"/>
          <p:cNvCxnSpPr/>
          <p:nvPr/>
        </p:nvCxnSpPr>
        <p:spPr>
          <a:xfrm>
            <a:off x="8641080" y="3246120"/>
            <a:ext cx="109728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4"/>
          <p:cNvSpPr/>
          <p:nvPr/>
        </p:nvSpPr>
        <p:spPr>
          <a:xfrm rot="-2700000">
            <a:off x="10195560" y="2743200"/>
            <a:ext cx="822960" cy="822960"/>
          </a:xfrm>
          <a:prstGeom prst="chevron">
            <a:avLst>
              <a:gd fmla="val 50000" name="adj"/>
            </a:avLst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 txBox="1"/>
          <p:nvPr>
            <p:ph idx="4294967295" type="sldNum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/>
          <p:nvPr/>
        </p:nvSpPr>
        <p:spPr>
          <a:xfrm>
            <a:off x="566928" y="411480"/>
            <a:ext cx="11018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Problema y motivación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594360" y="932688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¿Cómo controlar una computadora sin depender de las manos?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640080" y="1417320"/>
            <a:ext cx="3520440" cy="3520440"/>
          </a:xfrm>
          <a:prstGeom prst="roundRect">
            <a:avLst>
              <a:gd fmla="val 2078" name="adj"/>
            </a:avLst>
          </a:prstGeom>
          <a:solidFill>
            <a:srgbClr val="FFFFFF"/>
          </a:solidFill>
          <a:ln cap="flat" cmpd="sng" w="12700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640080" y="1417320"/>
            <a:ext cx="73152" cy="352044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841248" y="1581912"/>
            <a:ext cx="3200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Problema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841248" y="2011680"/>
            <a:ext cx="3172968" cy="2788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El ratón convencional exige control manual fino. Esto puede convertirse en una barrera de acceso para personas con limitaciones motoras en miembros superiores y limita escenarios de interacción sin contacto.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4343400" y="1417320"/>
            <a:ext cx="3520440" cy="3520440"/>
          </a:xfrm>
          <a:prstGeom prst="roundRect">
            <a:avLst>
              <a:gd fmla="val 2078" name="adj"/>
            </a:avLst>
          </a:prstGeom>
          <a:solidFill>
            <a:srgbClr val="FFFFFF"/>
          </a:solidFill>
          <a:ln cap="flat" cmpd="sng" w="12700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4343400" y="1417320"/>
            <a:ext cx="73152" cy="352044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4544568" y="1581912"/>
            <a:ext cx="3200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Oportunidad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4544568" y="2011680"/>
            <a:ext cx="3172968" cy="2788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Una cámara web puede captar movimientos disponibles de la cabeza. La inteligencia artificial permite aprender patrones personalizados sin requerir sensores dedicados ni hardware especializado.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8046720" y="1417320"/>
            <a:ext cx="3520440" cy="3520440"/>
          </a:xfrm>
          <a:prstGeom prst="roundRect">
            <a:avLst>
              <a:gd fmla="val 2078" name="adj"/>
            </a:avLst>
          </a:prstGeom>
          <a:solidFill>
            <a:srgbClr val="FFFFFF"/>
          </a:solidFill>
          <a:ln cap="flat" cmpd="sng" w="12700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8046720" y="1417320"/>
            <a:ext cx="73152" cy="352044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8247888" y="1581912"/>
            <a:ext cx="3200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8247888" y="2011680"/>
            <a:ext cx="3172968" cy="2788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Desarrollar una prueba de concepto que reconozca cinco posturas cefálicas y las convierta en movimientos reales del cursor, ejecutándose de forma local.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5"/>
          <p:cNvSpPr txBox="1"/>
          <p:nvPr>
            <p:ph idx="4294967295" type="sldNum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/>
          <p:nvPr/>
        </p:nvSpPr>
        <p:spPr>
          <a:xfrm>
            <a:off x="566928" y="411480"/>
            <a:ext cx="11018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Metodología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594360" y="932688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Desarrollo tecnológico y validación funcional de una prueba de concepto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731520" y="1600200"/>
            <a:ext cx="2377440" cy="3063240"/>
          </a:xfrm>
          <a:prstGeom prst="roundRect">
            <a:avLst>
              <a:gd fmla="val 3077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1536192" y="1874520"/>
            <a:ext cx="777240" cy="777240"/>
          </a:xfrm>
          <a:prstGeom prst="ellipse">
            <a:avLst/>
          </a:prstGeom>
          <a:solidFill>
            <a:srgbClr val="14B8A6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1728204" y="2125987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932688" y="2880360"/>
            <a:ext cx="197510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Definir clases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950976" y="3456432"/>
            <a:ext cx="193852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CENTRO · IZQUIERDA · DERECHA · ARRIBA · ABAJO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3547872" y="1600200"/>
            <a:ext cx="2377440" cy="3063240"/>
          </a:xfrm>
          <a:prstGeom prst="roundRect">
            <a:avLst>
              <a:gd fmla="val 3077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4352544" y="1874520"/>
            <a:ext cx="777240" cy="777240"/>
          </a:xfrm>
          <a:prstGeom prst="ellipse">
            <a:avLst/>
          </a:prstGeom>
          <a:solidFill>
            <a:srgbClr val="38BDF8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6"/>
          <p:cNvSpPr/>
          <p:nvPr/>
        </p:nvSpPr>
        <p:spPr>
          <a:xfrm>
            <a:off x="4553706" y="2125987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3749040" y="2880360"/>
            <a:ext cx="197510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Capturar y entrenar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3767328" y="3456432"/>
            <a:ext cx="193852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Webcam + Teachable Machine Pose + datos balanceados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6364224" y="1600200"/>
            <a:ext cx="2377440" cy="3063240"/>
          </a:xfrm>
          <a:prstGeom prst="roundRect">
            <a:avLst>
              <a:gd fmla="val 3077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7168896" y="1874520"/>
            <a:ext cx="777240" cy="777240"/>
          </a:xfrm>
          <a:prstGeom prst="ellipse">
            <a:avLst/>
          </a:prstGeom>
          <a:solidFill>
            <a:srgbClr val="14B8A6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7370088" y="212603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6565392" y="2880360"/>
            <a:ext cx="197510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Exportar e integrar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6583680" y="3456432"/>
            <a:ext cx="193852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Modelo local + aplicación en Python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9180576" y="1600200"/>
            <a:ext cx="2377440" cy="3063240"/>
          </a:xfrm>
          <a:prstGeom prst="roundRect">
            <a:avLst>
              <a:gd fmla="val 3077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9985248" y="1874520"/>
            <a:ext cx="777240" cy="777240"/>
          </a:xfrm>
          <a:prstGeom prst="ellipse">
            <a:avLst/>
          </a:prstGeom>
          <a:solidFill>
            <a:srgbClr val="38BDF8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10186510" y="212600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9381744" y="2880360"/>
            <a:ext cx="197510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Validar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9400032" y="3456432"/>
            <a:ext cx="193852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Reconocimiento · dirección · estabilidad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3611880" y="5166360"/>
            <a:ext cx="2011680" cy="384048"/>
          </a:xfrm>
          <a:prstGeom prst="roundRect">
            <a:avLst>
              <a:gd fmla="val 19048" name="adj"/>
            </a:avLst>
          </a:prstGeom>
          <a:solidFill>
            <a:srgbClr val="FEF3C7"/>
          </a:solidFill>
          <a:ln cap="flat" cmpd="sng" w="12700">
            <a:solidFill>
              <a:srgbClr val="FEF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3685032" y="5239512"/>
            <a:ext cx="1865376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Umbral: 85 %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5742432" y="5166360"/>
            <a:ext cx="2514600" cy="384048"/>
          </a:xfrm>
          <a:prstGeom prst="roundRect">
            <a:avLst>
              <a:gd fmla="val 19048" name="adj"/>
            </a:avLst>
          </a:prstGeom>
          <a:solidFill>
            <a:srgbClr val="E0E7FF"/>
          </a:solidFill>
          <a:ln cap="flat" cmpd="sng" w="12700">
            <a:solidFill>
              <a:srgbClr val="E0E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5815584" y="5239512"/>
            <a:ext cx="2368296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3 frames consecutivos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6"/>
          <p:cNvSpPr txBox="1"/>
          <p:nvPr>
            <p:ph idx="4294967295" type="sldNum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"/>
          <p:cNvSpPr/>
          <p:nvPr/>
        </p:nvSpPr>
        <p:spPr>
          <a:xfrm>
            <a:off x="566928" y="411480"/>
            <a:ext cx="11018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Entrenamiento del modelo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594360" y="932688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Cinco clases balanceadas y más de </a:t>
            </a:r>
            <a:r>
              <a:rPr lang="en-US" sz="1250">
                <a:solidFill>
                  <a:srgbClr val="475569"/>
                </a:solidFill>
              </a:rPr>
              <a:t>9</a:t>
            </a:r>
            <a:r>
              <a:rPr b="0" i="0" lang="en-US" sz="12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00 ejemplos por clase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658368" y="1344168"/>
            <a:ext cx="7114032" cy="4526280"/>
          </a:xfrm>
          <a:prstGeom prst="roundRect">
            <a:avLst>
              <a:gd fmla="val 1010" name="adj"/>
            </a:avLst>
          </a:prstGeom>
          <a:solidFill>
            <a:srgbClr val="FFFFFF"/>
          </a:solidFill>
          <a:ln cap="flat" cmpd="sng" w="12700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"/>
          <p:cNvSpPr/>
          <p:nvPr/>
        </p:nvSpPr>
        <p:spPr>
          <a:xfrm>
            <a:off x="8028432" y="1417320"/>
            <a:ext cx="3063240" cy="384048"/>
          </a:xfrm>
          <a:prstGeom prst="roundRect">
            <a:avLst>
              <a:gd fmla="val 19048" name="adj"/>
            </a:avLst>
          </a:prstGeom>
          <a:solidFill>
            <a:srgbClr val="D1FAE5"/>
          </a:solidFill>
          <a:ln cap="flat" cmpd="sng" w="12700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"/>
          <p:cNvSpPr/>
          <p:nvPr/>
        </p:nvSpPr>
        <p:spPr>
          <a:xfrm>
            <a:off x="8101584" y="1490472"/>
            <a:ext cx="2916936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&gt; 3.500 ejemplos totales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8119872" y="2011680"/>
            <a:ext cx="2880360" cy="475488"/>
          </a:xfrm>
          <a:prstGeom prst="roundRect">
            <a:avLst>
              <a:gd fmla="val 7692" name="adj"/>
            </a:avLst>
          </a:prstGeom>
          <a:solidFill>
            <a:srgbClr val="EEF2FF"/>
          </a:solidFill>
          <a:ln cap="flat" cmpd="sng" w="12700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8302752" y="2130552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CENTRO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9686393" y="2103124"/>
            <a:ext cx="1012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4B8A6"/>
                </a:solidFill>
              </a:rPr>
              <a:t>R</a:t>
            </a:r>
            <a:r>
              <a:rPr b="1" i="0" lang="en-US" sz="1600" u="none" cap="none" strike="noStrike">
                <a:solidFill>
                  <a:srgbClr val="14B8A6"/>
                </a:solidFill>
                <a:latin typeface="Arial"/>
                <a:ea typeface="Arial"/>
                <a:cs typeface="Arial"/>
                <a:sym typeface="Arial"/>
              </a:rPr>
              <a:t>eposo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8119872" y="2670048"/>
            <a:ext cx="2880360" cy="475488"/>
          </a:xfrm>
          <a:prstGeom prst="roundRect">
            <a:avLst>
              <a:gd fmla="val 7692" name="adj"/>
            </a:avLst>
          </a:prstGeom>
          <a:solidFill>
            <a:srgbClr val="F0FDFA"/>
          </a:solidFill>
          <a:ln cap="flat" cmpd="sng" w="12700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8302752" y="2788920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IZQUIERDA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10287000" y="2761488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B8A6"/>
                </a:solidFill>
                <a:latin typeface="Arial"/>
                <a:ea typeface="Arial"/>
                <a:cs typeface="Arial"/>
                <a:sym typeface="Arial"/>
              </a:rPr>
              <a:t>←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8119872" y="3328416"/>
            <a:ext cx="2880360" cy="475488"/>
          </a:xfrm>
          <a:prstGeom prst="roundRect">
            <a:avLst>
              <a:gd fmla="val 7692" name="adj"/>
            </a:avLst>
          </a:prstGeom>
          <a:solidFill>
            <a:srgbClr val="F0FDFA"/>
          </a:solidFill>
          <a:ln cap="flat" cmpd="sng" w="12700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8302752" y="3447288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DERECHA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10287000" y="3419856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B8A6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8119872" y="3986784"/>
            <a:ext cx="2880360" cy="475488"/>
          </a:xfrm>
          <a:prstGeom prst="roundRect">
            <a:avLst>
              <a:gd fmla="val 7692" name="adj"/>
            </a:avLst>
          </a:prstGeom>
          <a:solidFill>
            <a:srgbClr val="F0FDFA"/>
          </a:solidFill>
          <a:ln cap="flat" cmpd="sng" w="12700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8302752" y="4105656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ARRIBA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10287000" y="4078224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B8A6"/>
                </a:solidFill>
                <a:latin typeface="Arial"/>
                <a:ea typeface="Arial"/>
                <a:cs typeface="Arial"/>
                <a:sym typeface="Arial"/>
              </a:rPr>
              <a:t>↑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8119872" y="4645152"/>
            <a:ext cx="2880360" cy="475488"/>
          </a:xfrm>
          <a:prstGeom prst="roundRect">
            <a:avLst>
              <a:gd fmla="val 7692" name="adj"/>
            </a:avLst>
          </a:prstGeom>
          <a:solidFill>
            <a:srgbClr val="F0FDFA"/>
          </a:solidFill>
          <a:ln cap="flat" cmpd="sng" w="12700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8302752" y="4764024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ABAJO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10287000" y="473659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B8A6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8138160" y="544068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4B8A6"/>
                </a:solidFill>
                <a:latin typeface="Arial"/>
                <a:ea typeface="Arial"/>
                <a:cs typeface="Arial"/>
                <a:sym typeface="Arial"/>
              </a:rPr>
              <a:t>Clave del entrenamiento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8138160" y="5742432"/>
            <a:ext cx="2880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Más diversidad de ángulos y distancias, no solo más repeticiones idénticas.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7"/>
          <p:cNvSpPr txBox="1"/>
          <p:nvPr>
            <p:ph idx="4294967295" type="sldNum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7" title="Screenshot 2026-10-15 2046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0700" y="1943438"/>
            <a:ext cx="6389375" cy="3423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"/>
          <p:cNvSpPr/>
          <p:nvPr/>
        </p:nvSpPr>
        <p:spPr>
          <a:xfrm>
            <a:off x="566928" y="411480"/>
            <a:ext cx="11018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Iteración y mejora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594360" y="932688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El primer modelo funcionaba… hasta mover la cámara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731520" y="1417320"/>
            <a:ext cx="5074920" cy="4251960"/>
          </a:xfrm>
          <a:prstGeom prst="roundRect">
            <a:avLst>
              <a:gd fmla="val 1720" name="adj"/>
            </a:avLst>
          </a:prstGeom>
          <a:solidFill>
            <a:srgbClr val="FFFFFF"/>
          </a:solidFill>
          <a:ln cap="flat" cmpd="sng" w="12700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"/>
          <p:cNvSpPr/>
          <p:nvPr/>
        </p:nvSpPr>
        <p:spPr>
          <a:xfrm>
            <a:off x="731520" y="1417320"/>
            <a:ext cx="73152" cy="425196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"/>
          <p:cNvSpPr/>
          <p:nvPr/>
        </p:nvSpPr>
        <p:spPr>
          <a:xfrm>
            <a:off x="932688" y="1581912"/>
            <a:ext cx="4754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Primera versión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932688" y="2011680"/>
            <a:ext cx="4727448" cy="35204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~400 ejemplos por clase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Buen desempeño con la cámara en la posición original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Sensibilidad a cambios pequeños de altura e inclinación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0"/>
              <a:buFont typeface="Arial"/>
              <a:buNone/>
            </a:pPr>
            <a:r>
              <a:t/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Diagnóstico: falta de generalización.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6355080" y="1417320"/>
            <a:ext cx="5074920" cy="4251960"/>
          </a:xfrm>
          <a:prstGeom prst="roundRect">
            <a:avLst>
              <a:gd fmla="val 1720" name="adj"/>
            </a:avLst>
          </a:prstGeom>
          <a:solidFill>
            <a:srgbClr val="FFFFFF"/>
          </a:solidFill>
          <a:ln cap="flat" cmpd="sng" w="12700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6355080" y="1417320"/>
            <a:ext cx="73152" cy="425196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"/>
          <p:cNvSpPr/>
          <p:nvPr/>
        </p:nvSpPr>
        <p:spPr>
          <a:xfrm>
            <a:off x="6556248" y="1581912"/>
            <a:ext cx="4754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Versión mejorada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6556248" y="2011680"/>
            <a:ext cx="4727448" cy="35204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&gt;</a:t>
            </a:r>
            <a:r>
              <a:rPr lang="en-US" sz="1220">
                <a:solidFill>
                  <a:srgbClr val="334155"/>
                </a:solidFill>
              </a:rPr>
              <a:t>9</a:t>
            </a:r>
            <a:r>
              <a:rPr b="0" i="0" lang="en-US" sz="12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00 ejemplos por clase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Variación moderada de ángulo, distancia e iluminación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Clases todavía bien separadas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Mayor estabilidad ante cambios normales de uso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0"/>
              <a:buFont typeface="Arial"/>
              <a:buNone/>
            </a:pPr>
            <a:r>
              <a:t/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Lección: la calidad y diversidad del dato importan.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5742432" y="2852928"/>
            <a:ext cx="438912" cy="685800"/>
          </a:xfrm>
          <a:prstGeom prst="chevron">
            <a:avLst>
              <a:gd fmla="val 50000" name="adj"/>
            </a:avLst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4297680" y="580644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Reentrenar con ejemplos variados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8"/>
          <p:cNvSpPr txBox="1"/>
          <p:nvPr>
            <p:ph idx="4294967295" type="sldNum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"/>
          <p:cNvSpPr/>
          <p:nvPr/>
        </p:nvSpPr>
        <p:spPr>
          <a:xfrm>
            <a:off x="566928" y="411480"/>
            <a:ext cx="11018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Arquitectura funcional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594360" y="932688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Del movimiento de cabeza a una acción real del sistema operativo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9"/>
          <p:cNvSpPr txBox="1"/>
          <p:nvPr>
            <p:ph idx="4294967295" type="sldNum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525840" y="1261880"/>
            <a:ext cx="11018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</a:rPr>
              <a:t>Flujo de procesamiento desde la captura de la postura hasta el control del cursor</a:t>
            </a:r>
            <a:endParaRPr b="1" sz="3800">
              <a:solidFill>
                <a:srgbClr val="0F172A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720775" y="2460150"/>
            <a:ext cx="1792800" cy="16734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82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950" lIns="78950" spcFirstLastPara="1" rIns="78950" wrap="square" tIns="78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50">
                <a:solidFill>
                  <a:schemeClr val="dk1"/>
                </a:solidFill>
              </a:rPr>
              <a:t>Captura de postura</a:t>
            </a:r>
            <a:endParaRPr b="1" sz="95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50">
                <a:solidFill>
                  <a:schemeClr val="dk1"/>
                </a:solidFill>
              </a:rPr>
              <a:t>Webcam</a:t>
            </a:r>
            <a:endParaRPr sz="95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50">
                <a:solidFill>
                  <a:schemeClr val="dk1"/>
                </a:solidFill>
              </a:rPr>
              <a:t>Adquisición de video en tiempo real</a:t>
            </a:r>
            <a:r>
              <a:rPr lang="en-US" sz="950">
                <a:solidFill>
                  <a:schemeClr val="dk1"/>
                </a:solidFill>
              </a:rPr>
              <a:t> </a:t>
            </a:r>
            <a:endParaRPr sz="1209"/>
          </a:p>
        </p:txBody>
      </p:sp>
      <p:sp>
        <p:nvSpPr>
          <p:cNvPr id="147" name="Google Shape;147;p9"/>
          <p:cNvSpPr/>
          <p:nvPr/>
        </p:nvSpPr>
        <p:spPr>
          <a:xfrm>
            <a:off x="2889404" y="2465591"/>
            <a:ext cx="1792800" cy="1673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82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950" lIns="78950" spcFirstLastPara="1" rIns="78950" wrap="square" tIns="78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chemeClr val="dk1"/>
                </a:solidFill>
              </a:rPr>
              <a:t>Reconocimiento de pose</a:t>
            </a:r>
            <a:endParaRPr b="1" sz="95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50">
                <a:solidFill>
                  <a:schemeClr val="dk1"/>
                </a:solidFill>
              </a:rPr>
              <a:t>Teachable Machine</a:t>
            </a:r>
            <a:endParaRPr sz="95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950">
                <a:solidFill>
                  <a:schemeClr val="dk1"/>
                </a:solidFill>
              </a:rPr>
              <a:t>Clasificación en 5 categorías</a:t>
            </a:r>
            <a:endParaRPr i="1" sz="95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50">
                <a:solidFill>
                  <a:schemeClr val="dk1"/>
                </a:solidFill>
              </a:rPr>
              <a:t>Centro · Izquierda · Derecha · Arriba · Abajo</a:t>
            </a:r>
            <a:r>
              <a:rPr lang="en-US" sz="950">
                <a:solidFill>
                  <a:schemeClr val="dk1"/>
                </a:solidFill>
              </a:rPr>
              <a:t> </a:t>
            </a:r>
            <a:endParaRPr sz="950">
              <a:solidFill>
                <a:schemeClr val="dk1"/>
              </a:solidFill>
            </a:endParaRPr>
          </a:p>
        </p:txBody>
      </p:sp>
      <p:cxnSp>
        <p:nvCxnSpPr>
          <p:cNvPr id="148" name="Google Shape;148;p9"/>
          <p:cNvCxnSpPr>
            <a:stCxn id="146" idx="3"/>
            <a:endCxn id="147" idx="1"/>
          </p:cNvCxnSpPr>
          <p:nvPr/>
        </p:nvCxnSpPr>
        <p:spPr>
          <a:xfrm>
            <a:off x="2513575" y="3296850"/>
            <a:ext cx="375900" cy="5400"/>
          </a:xfrm>
          <a:prstGeom prst="straightConnector1">
            <a:avLst/>
          </a:prstGeom>
          <a:noFill/>
          <a:ln cap="flat" cmpd="sng" w="82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9" name="Google Shape;149;p9"/>
          <p:cNvSpPr/>
          <p:nvPr/>
        </p:nvSpPr>
        <p:spPr>
          <a:xfrm>
            <a:off x="5130274" y="2460150"/>
            <a:ext cx="1792800" cy="1673400"/>
          </a:xfrm>
          <a:prstGeom prst="roundRect">
            <a:avLst>
              <a:gd fmla="val 16667" name="adj"/>
            </a:avLst>
          </a:prstGeom>
          <a:solidFill>
            <a:srgbClr val="8E7CC3"/>
          </a:solidFill>
          <a:ln cap="flat" cmpd="sng" w="82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950" lIns="78950" spcFirstLastPara="1" rIns="78950" wrap="square" tIns="78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chemeClr val="dk1"/>
                </a:solidFill>
              </a:rPr>
              <a:t>Validación de predicción</a:t>
            </a:r>
            <a:endParaRPr b="1" sz="95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50">
                <a:solidFill>
                  <a:schemeClr val="dk1"/>
                </a:solidFill>
              </a:rPr>
              <a:t>Lógica de decisión</a:t>
            </a:r>
            <a:endParaRPr sz="95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950">
                <a:solidFill>
                  <a:schemeClr val="dk1"/>
                </a:solidFill>
              </a:rPr>
              <a:t>Confianza ≥ 85 %</a:t>
            </a:r>
            <a:endParaRPr i="1" sz="95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50">
                <a:solidFill>
                  <a:schemeClr val="dk1"/>
                </a:solidFill>
              </a:rPr>
              <a:t>3 predicciones consecutivas</a:t>
            </a:r>
            <a:r>
              <a:rPr lang="en-US" sz="950">
                <a:solidFill>
                  <a:schemeClr val="dk1"/>
                </a:solidFill>
              </a:rPr>
              <a:t> </a:t>
            </a:r>
            <a:endParaRPr sz="950">
              <a:solidFill>
                <a:schemeClr val="dk1"/>
              </a:solidFill>
            </a:endParaRPr>
          </a:p>
        </p:txBody>
      </p:sp>
      <p:cxnSp>
        <p:nvCxnSpPr>
          <p:cNvPr id="150" name="Google Shape;150;p9"/>
          <p:cNvCxnSpPr>
            <a:stCxn id="147" idx="3"/>
            <a:endCxn id="149" idx="1"/>
          </p:cNvCxnSpPr>
          <p:nvPr/>
        </p:nvCxnSpPr>
        <p:spPr>
          <a:xfrm flipH="1" rot="10800000">
            <a:off x="4682204" y="3296891"/>
            <a:ext cx="448200" cy="5400"/>
          </a:xfrm>
          <a:prstGeom prst="straightConnector1">
            <a:avLst/>
          </a:prstGeom>
          <a:noFill/>
          <a:ln cap="flat" cmpd="sng" w="82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1" name="Google Shape;151;p9"/>
          <p:cNvSpPr/>
          <p:nvPr/>
        </p:nvSpPr>
        <p:spPr>
          <a:xfrm>
            <a:off x="7334604" y="2460150"/>
            <a:ext cx="1792800" cy="16734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82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950" lIns="78950" spcFirstLastPara="1" rIns="78950" wrap="square" tIns="78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chemeClr val="dk1"/>
                </a:solidFill>
              </a:rPr>
              <a:t>Controlador local</a:t>
            </a:r>
            <a:endParaRPr b="1" sz="95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50">
                <a:solidFill>
                  <a:schemeClr val="dk1"/>
                </a:solidFill>
              </a:rPr>
              <a:t>Python + PyAutoGUI </a:t>
            </a:r>
            <a:endParaRPr sz="95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950">
                <a:solidFill>
                  <a:schemeClr val="dk1"/>
                </a:solidFill>
              </a:rPr>
              <a:t>Interpreta la clase detectada</a:t>
            </a:r>
            <a:endParaRPr i="1" sz="95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50">
                <a:solidFill>
                  <a:schemeClr val="dk1"/>
                </a:solidFill>
              </a:rPr>
              <a:t>Ejecuta la acción correspondiente</a:t>
            </a:r>
            <a:r>
              <a:rPr lang="en-US" sz="950">
                <a:solidFill>
                  <a:schemeClr val="dk1"/>
                </a:solidFill>
              </a:rPr>
              <a:t> </a:t>
            </a:r>
            <a:r>
              <a:rPr lang="en-US" sz="950">
                <a:solidFill>
                  <a:schemeClr val="dk1"/>
                </a:solidFill>
              </a:rPr>
              <a:t> </a:t>
            </a:r>
            <a:endParaRPr sz="950">
              <a:solidFill>
                <a:schemeClr val="dk1"/>
              </a:solidFill>
            </a:endParaRPr>
          </a:p>
        </p:txBody>
      </p:sp>
      <p:cxnSp>
        <p:nvCxnSpPr>
          <p:cNvPr id="152" name="Google Shape;152;p9"/>
          <p:cNvCxnSpPr>
            <a:endCxn id="151" idx="1"/>
          </p:cNvCxnSpPr>
          <p:nvPr/>
        </p:nvCxnSpPr>
        <p:spPr>
          <a:xfrm>
            <a:off x="6923004" y="3296850"/>
            <a:ext cx="411600" cy="0"/>
          </a:xfrm>
          <a:prstGeom prst="straightConnector1">
            <a:avLst/>
          </a:prstGeom>
          <a:noFill/>
          <a:ln cap="flat" cmpd="sng" w="82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3" name="Google Shape;153;p9"/>
          <p:cNvSpPr/>
          <p:nvPr/>
        </p:nvSpPr>
        <p:spPr>
          <a:xfrm>
            <a:off x="9575354" y="2465600"/>
            <a:ext cx="1792800" cy="16734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82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950" lIns="78950" spcFirstLastPara="1" rIns="78950" wrap="square" tIns="78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Interacción con el sistema</a:t>
            </a:r>
            <a:endParaRPr b="1" sz="95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Cursor de Windows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100">
                <a:solidFill>
                  <a:schemeClr val="dk1"/>
                </a:solidFill>
              </a:rPr>
              <a:t>Movimiento del puntero</a:t>
            </a:r>
            <a:endParaRPr i="1"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chemeClr val="dk1"/>
                </a:solidFill>
              </a:rPr>
              <a:t>↑ ↓ ← →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sz="950">
              <a:solidFill>
                <a:schemeClr val="dk1"/>
              </a:solidFill>
            </a:endParaRPr>
          </a:p>
        </p:txBody>
      </p:sp>
      <p:cxnSp>
        <p:nvCxnSpPr>
          <p:cNvPr id="154" name="Google Shape;154;p9"/>
          <p:cNvCxnSpPr>
            <a:stCxn id="151" idx="3"/>
            <a:endCxn id="153" idx="1"/>
          </p:cNvCxnSpPr>
          <p:nvPr/>
        </p:nvCxnSpPr>
        <p:spPr>
          <a:xfrm>
            <a:off x="9127404" y="3296850"/>
            <a:ext cx="447900" cy="5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/>
          <p:nvPr/>
        </p:nvSpPr>
        <p:spPr>
          <a:xfrm>
            <a:off x="566928" y="411480"/>
            <a:ext cx="11018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Implementación local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594360" y="932688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El prototipo no depende del modelo alojado en Internet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685800" y="1417320"/>
            <a:ext cx="5120640" cy="4343400"/>
          </a:xfrm>
          <a:prstGeom prst="roundRect">
            <a:avLst>
              <a:gd fmla="val 842" name="adj"/>
            </a:avLst>
          </a:prstGeom>
          <a:solidFill>
            <a:srgbClr val="FFFFFF"/>
          </a:solidFill>
          <a:ln cap="flat" cmpd="sng" w="12700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image(2).png" id="163" name="Google Shape;16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737360"/>
            <a:ext cx="4663440" cy="333756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0"/>
          <p:cNvSpPr/>
          <p:nvPr/>
        </p:nvSpPr>
        <p:spPr>
          <a:xfrm>
            <a:off x="914400" y="523036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Modelo exportado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6126480" y="1417320"/>
            <a:ext cx="5349240" cy="4343400"/>
          </a:xfrm>
          <a:prstGeom prst="roundRect">
            <a:avLst>
              <a:gd fmla="val 842" name="adj"/>
            </a:avLst>
          </a:prstGeom>
          <a:solidFill>
            <a:srgbClr val="FFFFFF"/>
          </a:solidFill>
          <a:ln cap="flat" cmpd="sng" w="12700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0"/>
          <p:cNvSpPr/>
          <p:nvPr/>
        </p:nvSpPr>
        <p:spPr>
          <a:xfrm>
            <a:off x="6355080" y="5230368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Aplicación en Python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0"/>
          <p:cNvSpPr txBox="1"/>
          <p:nvPr>
            <p:ph idx="4294967295" type="sldNum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10" title="Screenshot 2026-10-16 14390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5075" y="2051287"/>
            <a:ext cx="4737348" cy="266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"/>
          <p:cNvSpPr/>
          <p:nvPr/>
        </p:nvSpPr>
        <p:spPr>
          <a:xfrm>
            <a:off x="566928" y="411480"/>
            <a:ext cx="11018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Limitaciones y evolución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1"/>
          <p:cNvSpPr/>
          <p:nvPr/>
        </p:nvSpPr>
        <p:spPr>
          <a:xfrm>
            <a:off x="594360" y="932688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El proyecto queda preparado para crecer durante el semestre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1"/>
          <p:cNvSpPr/>
          <p:nvPr/>
        </p:nvSpPr>
        <p:spPr>
          <a:xfrm>
            <a:off x="777240" y="1828800"/>
            <a:ext cx="2148840" cy="3200400"/>
          </a:xfrm>
          <a:prstGeom prst="roundRect">
            <a:avLst>
              <a:gd fmla="val 2128" name="adj"/>
            </a:avLst>
          </a:prstGeom>
          <a:solidFill>
            <a:srgbClr val="ECFDF5"/>
          </a:solidFill>
          <a:ln cap="flat" cmpd="sng" w="254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1"/>
          <p:cNvSpPr/>
          <p:nvPr/>
        </p:nvSpPr>
        <p:spPr>
          <a:xfrm>
            <a:off x="941832" y="21031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4B8A6"/>
                </a:solidFill>
                <a:latin typeface="Arial"/>
                <a:ea typeface="Arial"/>
                <a:cs typeface="Arial"/>
                <a:sym typeface="Arial"/>
              </a:rPr>
              <a:t>v1 · Actual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941832" y="278892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5 clases discretas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941832" y="3703320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← ↑ centro ↓ →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1"/>
          <p:cNvSpPr/>
          <p:nvPr/>
        </p:nvSpPr>
        <p:spPr>
          <a:xfrm>
            <a:off x="3044952" y="2971800"/>
            <a:ext cx="411480" cy="594360"/>
          </a:xfrm>
          <a:prstGeom prst="chevron">
            <a:avLst>
              <a:gd fmla="val 50000" name="adj"/>
            </a:avLst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1"/>
          <p:cNvSpPr/>
          <p:nvPr/>
        </p:nvSpPr>
        <p:spPr>
          <a:xfrm>
            <a:off x="3611880" y="1828800"/>
            <a:ext cx="2148840" cy="3200400"/>
          </a:xfrm>
          <a:prstGeom prst="roundRect">
            <a:avLst>
              <a:gd fmla="val 2128" name="adj"/>
            </a:avLst>
          </a:prstGeom>
          <a:solidFill>
            <a:srgbClr val="FFFFFF"/>
          </a:solidFill>
          <a:ln cap="flat" cmpd="sng" w="12700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1"/>
          <p:cNvSpPr/>
          <p:nvPr/>
        </p:nvSpPr>
        <p:spPr>
          <a:xfrm>
            <a:off x="3776472" y="21031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v2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1"/>
          <p:cNvSpPr/>
          <p:nvPr/>
        </p:nvSpPr>
        <p:spPr>
          <a:xfrm>
            <a:off x="3776472" y="278892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Movimiento proporcional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1"/>
          <p:cNvSpPr/>
          <p:nvPr/>
        </p:nvSpPr>
        <p:spPr>
          <a:xfrm>
            <a:off x="3776472" y="3703320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más inclinación = más velocidad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5879592" y="2971800"/>
            <a:ext cx="411480" cy="594360"/>
          </a:xfrm>
          <a:prstGeom prst="chevron">
            <a:avLst>
              <a:gd fmla="val 50000" name="adj"/>
            </a:avLst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1"/>
          <p:cNvSpPr/>
          <p:nvPr/>
        </p:nvSpPr>
        <p:spPr>
          <a:xfrm>
            <a:off x="6446520" y="1828800"/>
            <a:ext cx="2148840" cy="3200400"/>
          </a:xfrm>
          <a:prstGeom prst="roundRect">
            <a:avLst>
              <a:gd fmla="val 2128" name="adj"/>
            </a:avLst>
          </a:prstGeom>
          <a:solidFill>
            <a:srgbClr val="FFFFFF"/>
          </a:solidFill>
          <a:ln cap="flat" cmpd="sng" w="12700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1"/>
          <p:cNvSpPr/>
          <p:nvPr/>
        </p:nvSpPr>
        <p:spPr>
          <a:xfrm>
            <a:off x="6611112" y="21031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v3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6611112" y="278892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Acciones completas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1"/>
          <p:cNvSpPr/>
          <p:nvPr/>
        </p:nvSpPr>
        <p:spPr>
          <a:xfrm>
            <a:off x="6611112" y="3703320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clic · arrastre · scroll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8714232" y="2971800"/>
            <a:ext cx="411480" cy="594360"/>
          </a:xfrm>
          <a:prstGeom prst="chevron">
            <a:avLst>
              <a:gd fmla="val 50000" name="adj"/>
            </a:avLst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1"/>
          <p:cNvSpPr/>
          <p:nvPr/>
        </p:nvSpPr>
        <p:spPr>
          <a:xfrm>
            <a:off x="9281160" y="1828800"/>
            <a:ext cx="2148840" cy="3200400"/>
          </a:xfrm>
          <a:prstGeom prst="roundRect">
            <a:avLst>
              <a:gd fmla="val 2128" name="adj"/>
            </a:avLst>
          </a:prstGeom>
          <a:solidFill>
            <a:srgbClr val="FFFFFF"/>
          </a:solidFill>
          <a:ln cap="flat" cmpd="sng" w="12700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1"/>
          <p:cNvSpPr/>
          <p:nvPr/>
        </p:nvSpPr>
        <p:spPr>
          <a:xfrm>
            <a:off x="9445752" y="21031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v4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9445752" y="278892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Evaluación formal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9445752" y="3703320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Fitts · precisión · usabilidad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1920240" y="5623560"/>
            <a:ext cx="8412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Escalabilidad = no rehacer el proyecto, sino reemplazar y mejorar componentes.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1"/>
          <p:cNvSpPr txBox="1"/>
          <p:nvPr>
            <p:ph idx="4294967295" type="sldNum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2"/>
          <p:cNvSpPr/>
          <p:nvPr/>
        </p:nvSpPr>
        <p:spPr>
          <a:xfrm>
            <a:off x="566928" y="411480"/>
            <a:ext cx="11018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Conclusiones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2"/>
          <p:cNvSpPr/>
          <p:nvPr/>
        </p:nvSpPr>
        <p:spPr>
          <a:xfrm>
            <a:off x="594360" y="932688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Lo importante no es solo reconocer una pose: es convertirla en interacción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2"/>
          <p:cNvSpPr/>
          <p:nvPr/>
        </p:nvSpPr>
        <p:spPr>
          <a:xfrm>
            <a:off x="822960" y="1417320"/>
            <a:ext cx="3429000" cy="4251960"/>
          </a:xfrm>
          <a:prstGeom prst="roundRect">
            <a:avLst>
              <a:gd fmla="val 2133" name="adj"/>
            </a:avLst>
          </a:prstGeom>
          <a:solidFill>
            <a:srgbClr val="FFFFFF"/>
          </a:solidFill>
          <a:ln cap="flat" cmpd="sng" w="12700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2"/>
          <p:cNvSpPr/>
          <p:nvPr/>
        </p:nvSpPr>
        <p:spPr>
          <a:xfrm>
            <a:off x="822960" y="1417320"/>
            <a:ext cx="73152" cy="425196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2"/>
          <p:cNvSpPr/>
          <p:nvPr/>
        </p:nvSpPr>
        <p:spPr>
          <a:xfrm>
            <a:off x="1024128" y="1581912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1. Viabilidad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1024128" y="2011680"/>
            <a:ext cx="3081528" cy="35204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Teachable Machine Pose permitió entrenar un clasificador personalizado con una cámara convencional y sin construir el modelo desde cero.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4389120" y="1417320"/>
            <a:ext cx="3429000" cy="4251960"/>
          </a:xfrm>
          <a:prstGeom prst="roundRect">
            <a:avLst>
              <a:gd fmla="val 2133" name="adj"/>
            </a:avLst>
          </a:prstGeom>
          <a:solidFill>
            <a:srgbClr val="FFFFFF"/>
          </a:solidFill>
          <a:ln cap="flat" cmpd="sng" w="12700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2"/>
          <p:cNvSpPr/>
          <p:nvPr/>
        </p:nvSpPr>
        <p:spPr>
          <a:xfrm>
            <a:off x="4389120" y="1417320"/>
            <a:ext cx="73152" cy="425196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2"/>
          <p:cNvSpPr/>
          <p:nvPr/>
        </p:nvSpPr>
        <p:spPr>
          <a:xfrm>
            <a:off x="4590288" y="1581912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2. Integración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2"/>
          <p:cNvSpPr/>
          <p:nvPr/>
        </p:nvSpPr>
        <p:spPr>
          <a:xfrm>
            <a:off x="4590288" y="2011680"/>
            <a:ext cx="3081528" cy="35204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El modelo se exportó e integró en una aplicación local capaz de mover el cursor real mediante Python.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2"/>
          <p:cNvSpPr/>
          <p:nvPr/>
        </p:nvSpPr>
        <p:spPr>
          <a:xfrm>
            <a:off x="7955280" y="1417320"/>
            <a:ext cx="3429000" cy="4251960"/>
          </a:xfrm>
          <a:prstGeom prst="roundRect">
            <a:avLst>
              <a:gd fmla="val 2133" name="adj"/>
            </a:avLst>
          </a:prstGeom>
          <a:solidFill>
            <a:srgbClr val="FFFFFF"/>
          </a:solidFill>
          <a:ln cap="flat" cmpd="sng" w="12700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2"/>
          <p:cNvSpPr/>
          <p:nvPr/>
        </p:nvSpPr>
        <p:spPr>
          <a:xfrm>
            <a:off x="7955280" y="1417320"/>
            <a:ext cx="73152" cy="425196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2"/>
          <p:cNvSpPr/>
          <p:nvPr/>
        </p:nvSpPr>
        <p:spPr>
          <a:xfrm>
            <a:off x="8156448" y="1581912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3. Aprendizaje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8156448" y="2011680"/>
            <a:ext cx="3081528" cy="35204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La principal mejora vino de diversificar el conjunto de entrenamiento y filtrar las predicciones antes de actuar.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1417320" y="5870448"/>
            <a:ext cx="9326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Resultado: una base funcional para una interfaz accesible y ampliable.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2"/>
          <p:cNvSpPr txBox="1"/>
          <p:nvPr>
            <p:ph idx="4294967295" type="sldNum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